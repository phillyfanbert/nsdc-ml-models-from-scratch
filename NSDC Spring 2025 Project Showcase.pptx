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Fira Sans Extra Condensed"/>
      <p:regular r:id="rId28"/>
      <p:bold r:id="rId29"/>
      <p:italic r:id="rId30"/>
      <p:boldItalic r:id="rId31"/>
    </p:embeddedFont>
    <p:embeddedFont>
      <p:font typeface="Fira Sans Extra Condensed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4DF609-D5C0-4DAD-A612-FEA928C0C0B2}">
  <a:tblStyle styleId="{034DF609-D5C0-4DAD-A612-FEA928C0C0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11" Type="http://schemas.openxmlformats.org/officeDocument/2006/relationships/slide" Target="slides/slide5.xml"/><Relationship Id="rId33" Type="http://schemas.openxmlformats.org/officeDocument/2006/relationships/font" Target="fonts/FiraSansExtraCondensedSemiBold-bold.fntdata"/><Relationship Id="rId10" Type="http://schemas.openxmlformats.org/officeDocument/2006/relationships/slide" Target="slides/slide4.xml"/><Relationship Id="rId32" Type="http://schemas.openxmlformats.org/officeDocument/2006/relationships/font" Target="fonts/FiraSansExtraCondensed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FiraSansExtraCondensed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FiraSansExtraCondensed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5888ab3e0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" name="Google Shape;40;g35888ab3e0e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cc462d863_1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cc462d863_1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888ab3e0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888ab3e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stats highest correlation out of the potential stat groups/not including body types &amp; characteristics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change side to some water &amp; flying type pokemon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cc462d86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cc462d86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Stronger positive correlations between stats &amp; total (sense makes) + stronger positive correlation between height &amp; weight (also makes sense)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888ab3e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888ab3e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888ab3e0e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888ab3e0e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888ab3e0e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888ab3e0e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888ab3e0e_5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888ab3e0e_5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888ab3e0e_5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888ab3e0e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888ab3e0e_4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888ab3e0e_4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888ab3e0e_4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888ab3e0e_4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888ab3e0e_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888ab3e0e_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888ab3e0e_5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888ab3e0e_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888ab3e0e_5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5888ab3e0e_5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888ab3e0e_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5888ab3e0e_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647e7ee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647e7ee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Captures complex patterns and feature interactions better (than simple linear models)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888ab3e0e_5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888ab3e0e_5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0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lab.research.google.com/drive/1fHWyUdiNXHlJXpH2GI7ztiHw010A4oyp#scrollTo=WmJRGF5qDxt-" TargetMode="External"/><Relationship Id="rId4" Type="http://schemas.openxmlformats.org/officeDocument/2006/relationships/hyperlink" Target="https://www.kaggle.com/datasets/alopez247/pokemon" TargetMode="External"/><Relationship Id="rId5" Type="http://schemas.openxmlformats.org/officeDocument/2006/relationships/hyperlink" Target="https://docs.google.com/document/d/1qwPUrhIOFl69jlXqv7EPtjeOQ5oIEQBMBawbwsiy6z4/edit?tab=t.0" TargetMode="External"/><Relationship Id="rId6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/>
        </p:nvSpPr>
        <p:spPr>
          <a:xfrm>
            <a:off x="4983800" y="0"/>
            <a:ext cx="38700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“Homemade” </a:t>
            </a:r>
            <a:r>
              <a:rPr lang="en" sz="5000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Machine Learning </a:t>
            </a: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Models</a:t>
            </a:r>
            <a:endParaRPr sz="5000">
              <a:solidFill>
                <a:srgbClr val="000000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3" name="Google Shape;43;p13"/>
          <p:cNvSpPr txBox="1"/>
          <p:nvPr/>
        </p:nvSpPr>
        <p:spPr>
          <a:xfrm>
            <a:off x="4826150" y="3453950"/>
            <a:ext cx="4185300" cy="1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Philbert Fan, Michelle Ly, Harry Kong, Daniel Perez, Kyle He, Bernice Wong, Dylan Aubrey, Sophia Knapp</a:t>
            </a:r>
            <a:endParaRPr i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" name="Google Shape;44;p13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5" name="Google Shape;45;p13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13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47" name="Google Shape;47;p13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rect b="b" l="l" r="r" t="t"/>
                <a:pathLst>
                  <a:path extrusionOk="0" h="28156" w="51436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3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rect b="b" l="l" r="r" t="t"/>
                <a:pathLst>
                  <a:path extrusionOk="0" fill="none" h="16267" w="3707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rect b="b" l="l" r="r" t="t"/>
                <a:pathLst>
                  <a:path extrusionOk="0" fill="none" h="18780" w="2215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rect b="b" l="l" r="r" t="t"/>
                <a:pathLst>
                  <a:path extrusionOk="0" fill="none" h="2588" w="1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rect b="b" l="l" r="r" t="t"/>
                <a:pathLst>
                  <a:path extrusionOk="0" fill="none" h="6418" w="1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rect b="b" l="l" r="r" t="t"/>
                <a:pathLst>
                  <a:path extrusionOk="0" fill="none" h="24675" w="2214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rect b="b" l="l" r="r" t="t"/>
                <a:pathLst>
                  <a:path extrusionOk="0" h="9304" w="9602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rect b="b" l="l" r="r" t="t"/>
                <a:pathLst>
                  <a:path extrusionOk="0" h="11790" w="14004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rect b="b" l="l" r="r" t="t"/>
                <a:pathLst>
                  <a:path extrusionOk="0" h="9328" w="9602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rect b="b" l="l" r="r" t="t"/>
                <a:pathLst>
                  <a:path extrusionOk="0" h="11816" w="14004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rect b="b" l="l" r="r" t="t"/>
                <a:pathLst>
                  <a:path extrusionOk="0" h="11816" w="14029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rect b="b" l="l" r="r" t="t"/>
                <a:pathLst>
                  <a:path extrusionOk="0" h="11790" w="14029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rect b="b" l="l" r="r" t="t"/>
                <a:pathLst>
                  <a:path extrusionOk="0" h="9304" w="9577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rect b="b" l="l" r="r" t="t"/>
                <a:pathLst>
                  <a:path extrusionOk="0" h="9328" w="9577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rect b="b" l="l" r="r" t="t"/>
                <a:pathLst>
                  <a:path extrusionOk="0" h="28156" w="51437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rect b="b" l="l" r="r" t="t"/>
                <a:pathLst>
                  <a:path extrusionOk="0" h="67380" w="16478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rect b="b" l="l" r="r" t="t"/>
                <a:pathLst>
                  <a:path extrusionOk="0" h="95436" w="6738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rect b="b" l="l" r="r" t="t"/>
                <a:pathLst>
                  <a:path extrusionOk="0" h="20820" w="6343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rect b="b" l="l" r="r" t="t"/>
                <a:pathLst>
                  <a:path extrusionOk="0" h="20820" w="6368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rect b="b" l="l" r="r" t="t"/>
                <a:pathLst>
                  <a:path extrusionOk="0" h="22511" w="45965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rect b="b" l="l" r="r" t="t"/>
                <a:pathLst>
                  <a:path extrusionOk="0" h="35843" w="51512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rect b="b" l="l" r="r" t="t"/>
                <a:pathLst>
                  <a:path extrusionOk="0" h="22361" w="20421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rect b="b" l="l" r="r" t="t"/>
                <a:pathLst>
                  <a:path extrusionOk="0" h="18656" w="14203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rect b="b" l="l" r="r" t="t"/>
                <a:pathLst>
                  <a:path extrusionOk="0" h="18656" w="14179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rect b="b" l="l" r="r" t="t"/>
                <a:pathLst>
                  <a:path extrusionOk="0" h="22361" w="20422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rect b="b" l="l" r="r" t="t"/>
                <a:pathLst>
                  <a:path extrusionOk="0" fill="none" h="15024" w="5573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rect b="b" l="l" r="r" t="t"/>
                <a:pathLst>
                  <a:path extrusionOk="0" fill="none" h="3061" w="3061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rect b="b" l="l" r="r" t="t"/>
                <a:pathLst>
                  <a:path extrusionOk="0" fill="none" h="4528" w="523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rect b="b" l="l" r="r" t="t"/>
                <a:pathLst>
                  <a:path extrusionOk="0" fill="none" h="19676" w="6144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776EA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rect b="b" l="l" r="r" t="t"/>
                <a:pathLst>
                  <a:path extrusionOk="0" fill="none" h="3036" w="306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rect b="b" l="l" r="r" t="t"/>
                <a:pathLst>
                  <a:path extrusionOk="0" fill="none" h="21068" w="6144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rect b="b" l="l" r="r" t="t"/>
                <a:pathLst>
                  <a:path extrusionOk="0" fill="none" h="16267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776EA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rect b="b" l="l" r="r" t="t"/>
                <a:pathLst>
                  <a:path extrusionOk="0" fill="none" h="4528" w="498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rect b="b" l="l" r="r" t="t"/>
                <a:pathLst>
                  <a:path extrusionOk="0" fill="none" h="17114" w="5026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rect b="b" l="l" r="r" t="t"/>
                <a:pathLst>
                  <a:path extrusionOk="0" h="24475" w="24451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rect b="b" l="l" r="r" t="t"/>
                <a:pathLst>
                  <a:path extrusionOk="0" h="21043" w="21067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rgbClr val="26EA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rect b="b" l="l" r="r" t="t"/>
                <a:pathLst>
                  <a:path extrusionOk="0" h="24475" w="1693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rect b="b" l="l" r="r" t="t"/>
                <a:pathLst>
                  <a:path extrusionOk="0" h="5548" w="4751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rect b="b" l="l" r="r" t="t"/>
                <a:pathLst>
                  <a:path extrusionOk="0" h="5299" w="3956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rect b="b" l="l" r="r" t="t"/>
                <a:pathLst>
                  <a:path extrusionOk="0" h="5424" w="4478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rect b="b" l="l" r="r" t="t"/>
                <a:pathLst>
                  <a:path extrusionOk="0" fill="none" h="5622" w="4677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rgbClr val="D9D9D9"/>
              </a:solidFill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rect b="b" l="l" r="r" t="t"/>
                <a:pathLst>
                  <a:path extrusionOk="0" h="24003" w="2455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rgbClr val="26EA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rect b="b" l="l" r="r" t="t"/>
                <a:pathLst>
                  <a:path extrusionOk="0" h="18630" w="19054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rgbClr val="8027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rect b="b" l="l" r="r" t="t"/>
                <a:pathLst>
                  <a:path extrusionOk="0" h="33654" w="33678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rect b="b" l="l" r="r" t="t"/>
                <a:pathLst>
                  <a:path extrusionOk="0" h="22834" w="22809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rect b="b" l="l" r="r" t="t"/>
                <a:pathLst>
                  <a:path extrusionOk="0" fill="none" h="3061" w="3035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rect b="b" l="l" r="r" t="t"/>
                <a:pathLst>
                  <a:path extrusionOk="0" fill="none" h="23505" w="6145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rect b="b" l="l" r="r" t="t"/>
                <a:pathLst>
                  <a:path extrusionOk="0" fill="none" h="15894" w="2215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rect b="b" l="l" r="r" t="t"/>
                <a:pathLst>
                  <a:path extrusionOk="0" fill="none" h="1518" w="1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rect b="b" l="l" r="r" t="t"/>
                <a:pathLst>
                  <a:path extrusionOk="0" fill="none" h="15024" w="5572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rect b="b" l="l" r="r" t="t"/>
                <a:pathLst>
                  <a:path extrusionOk="0" fill="none" h="3035" w="3061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B1B2B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rect b="b" l="l" r="r" t="t"/>
                <a:pathLst>
                  <a:path extrusionOk="0" fill="none" h="27261" w="996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rect b="b" l="l" r="r" t="t"/>
                <a:pathLst>
                  <a:path extrusionOk="0" fill="none" h="9228" w="523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rect b="b" l="l" r="r" t="t"/>
                <a:pathLst>
                  <a:path extrusionOk="0" fill="none" h="2538" w="1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rect b="b" l="l" r="r" t="t"/>
                <a:pathLst>
                  <a:path extrusionOk="0" h="41837" w="24699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rgbClr val="26EAB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rect b="b" l="l" r="r" t="t"/>
                <a:pathLst>
                  <a:path extrusionOk="0" h="33405" w="622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rect b="b" l="l" r="r" t="t"/>
                <a:pathLst>
                  <a:path extrusionOk="0" h="474" w="4652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rect b="b" l="l" r="r" t="t"/>
                <a:pathLst>
                  <a:path extrusionOk="0" h="6741" w="4552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rgbClr val="8027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rect b="b" l="l" r="r" t="t"/>
                <a:pathLst>
                  <a:path extrusionOk="0" h="15173" w="23232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rect b="b" l="l" r="r" t="t"/>
                <a:pathLst>
                  <a:path extrusionOk="0" h="6990" w="23232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rect b="b" l="l" r="r" t="t"/>
                <a:pathLst>
                  <a:path extrusionOk="0" h="11044" w="11691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rgbClr val="8027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rect b="b" l="l" r="r" t="t"/>
                <a:pathLst>
                  <a:path extrusionOk="0" h="1021" w="21341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rgbClr val="8027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rect b="b" l="l" r="r" t="t"/>
                <a:pathLst>
                  <a:path extrusionOk="0" h="40269" w="60291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rgbClr val="8027E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rect b="b" l="l" r="r" t="t"/>
                <a:pathLst>
                  <a:path extrusionOk="0" h="32236" w="56163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rect b="b" l="l" r="r" t="t"/>
                <a:pathLst>
                  <a:path extrusionOk="0" h="3035" w="56163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rect b="b" l="l" r="r" t="t"/>
                <a:pathLst>
                  <a:path extrusionOk="0" h="822" w="56163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rect b="b" l="l" r="r" t="t"/>
                <a:pathLst>
                  <a:path extrusionOk="0" h="797" w="56163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rect b="b" l="l" r="r" t="t"/>
                <a:pathLst>
                  <a:path extrusionOk="0" h="14228" w="18879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rect b="b" l="l" r="r" t="t"/>
                <a:pathLst>
                  <a:path extrusionOk="0" h="549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rect b="b" l="l" r="r" t="t"/>
                <a:pathLst>
                  <a:path extrusionOk="0" h="549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rect b="b" l="l" r="r" t="t"/>
                <a:pathLst>
                  <a:path extrusionOk="0" h="549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rect b="b" l="l" r="r" t="t"/>
                <a:pathLst>
                  <a:path extrusionOk="0" h="523" w="2072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rect b="b" l="l" r="r" t="t"/>
                <a:pathLst>
                  <a:path extrusionOk="0" h="548" w="2072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rect b="b" l="l" r="r" t="t"/>
                <a:pathLst>
                  <a:path extrusionOk="0" h="12462" w="19899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rgbClr val="E99B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rect b="b" l="l" r="r" t="t"/>
                <a:pathLst>
                  <a:path extrusionOk="0" h="7462" w="5871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rgbClr val="E99B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rect b="b" l="l" r="r" t="t"/>
                <a:pathLst>
                  <a:path extrusionOk="0" h="14526" w="23207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rect b="b" l="l" r="r" t="t"/>
                <a:pathLst>
                  <a:path extrusionOk="0" h="8706" w="6866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rgbClr val="EA48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rect b="b" l="l" r="r" t="t"/>
                <a:pathLst>
                  <a:path extrusionOk="0" h="897" w="17287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rect b="b" l="l" r="r" t="t"/>
                <a:pathLst>
                  <a:path extrusionOk="0" h="897" w="8333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rect b="b" l="l" r="r" t="t"/>
                <a:pathLst>
                  <a:path extrusionOk="0" h="921" w="8333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rect b="b" l="l" r="r" t="t"/>
                <a:pathLst>
                  <a:path extrusionOk="0" h="897" w="6542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rect b="b" l="l" r="r" t="t"/>
                <a:pathLst>
                  <a:path extrusionOk="0" h="921" w="6542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rect b="b" l="l" r="r" t="t"/>
                <a:pathLst>
                  <a:path extrusionOk="0" h="896" w="17287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rect b="b" l="l" r="r" t="t"/>
                <a:pathLst>
                  <a:path extrusionOk="0" fill="none" h="3035" w="3036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rect b="b" l="l" r="r" t="t"/>
                <a:pathLst>
                  <a:path extrusionOk="0" fill="none" h="7637" w="1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rect b="b" l="l" r="r" t="t"/>
                <a:pathLst>
                  <a:path extrusionOk="0" fill="none" h="2663" w="1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cap="rnd" cmpd="sng" w="23625">
                <a:solidFill>
                  <a:srgbClr val="2776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1" name="Google Shape;221;p13"/>
            <p:cNvSpPr/>
            <p:nvPr/>
          </p:nvSpPr>
          <p:spPr>
            <a:xfrm>
              <a:off x="2897110" y="101708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4107158" y="1563464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739527" y="2628883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3998124" y="4018260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457200" y="2809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Algorithms Implemented</a:t>
            </a:r>
            <a:endParaRPr/>
          </a:p>
        </p:txBody>
      </p:sp>
      <p:sp>
        <p:nvSpPr>
          <p:cNvPr id="232" name="Google Shape;232;p14"/>
          <p:cNvSpPr txBox="1"/>
          <p:nvPr>
            <p:ph idx="1" type="body"/>
          </p:nvPr>
        </p:nvSpPr>
        <p:spPr>
          <a:xfrm>
            <a:off x="457200" y="811700"/>
            <a:ext cx="8229600" cy="15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Linear Regression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K-Nearest Neighbors Regression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Decision Tree Regression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Random Forest Regression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Gradient Boosting Regression</a:t>
            </a:r>
            <a:endParaRPr b="1" sz="1800"/>
          </a:p>
        </p:txBody>
      </p:sp>
      <p:sp>
        <p:nvSpPr>
          <p:cNvPr id="233" name="Google Shape;233;p14"/>
          <p:cNvSpPr txBox="1"/>
          <p:nvPr/>
        </p:nvSpPr>
        <p:spPr>
          <a:xfrm>
            <a:off x="457200" y="2403200"/>
            <a:ext cx="5580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evaluated all of our models using the following metrics: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baseline="30000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measures how well a model explains the variability of the target variable, closer to 1 the better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MAE (Mean Absolute Error)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measures how far off the model’s predictions are from the actual values on average, lower this value is the better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19,100+ Writing Code Stock Photos ..." id="234" name="Google Shape;2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7494" y="1083550"/>
            <a:ext cx="3052307" cy="234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457200" y="4273525"/>
            <a:ext cx="517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 with our Dataset: To Predict Catch Rate</a:t>
            </a:r>
            <a:endParaRPr b="1" i="1" sz="20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5"/>
          <p:cNvGrpSpPr/>
          <p:nvPr/>
        </p:nvGrpSpPr>
        <p:grpSpPr>
          <a:xfrm>
            <a:off x="6671800" y="-191516"/>
            <a:ext cx="3197229" cy="1225005"/>
            <a:chOff x="231440" y="1271249"/>
            <a:chExt cx="6008700" cy="2185168"/>
          </a:xfrm>
        </p:grpSpPr>
        <p:sp>
          <p:nvSpPr>
            <p:cNvPr id="241" name="Google Shape;241;p15"/>
            <p:cNvSpPr txBox="1"/>
            <p:nvPr/>
          </p:nvSpPr>
          <p:spPr>
            <a:xfrm>
              <a:off x="231440" y="2936211"/>
              <a:ext cx="6008700" cy="4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2" name="Google Shape;24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97483" y="1271249"/>
              <a:ext cx="3276744" cy="2185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p15"/>
          <p:cNvSpPr txBox="1"/>
          <p:nvPr>
            <p:ph type="title"/>
          </p:nvPr>
        </p:nvSpPr>
        <p:spPr>
          <a:xfrm>
            <a:off x="86625" y="76125"/>
            <a:ext cx="8433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244" name="Google Shape;244;p15"/>
          <p:cNvSpPr txBox="1"/>
          <p:nvPr>
            <p:ph idx="1" type="body"/>
          </p:nvPr>
        </p:nvSpPr>
        <p:spPr>
          <a:xfrm>
            <a:off x="530575" y="662850"/>
            <a:ext cx="6307800" cy="3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721 rows, 22 columns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common type- Water (Ground)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common second type - Flying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stats maxed out at 165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Defense being an exception maxing out at 230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common body type- Bipedal &amp; tailed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Catch rate varied strongly across different Pokemon body styles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stats had the highest correlation with catch rate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Special Attack had highest individual stat correlation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5" name="Google Shape;2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550" y="570914"/>
            <a:ext cx="2000825" cy="20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6050" y="1464776"/>
            <a:ext cx="2000825" cy="20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8800" y="3142675"/>
            <a:ext cx="2000825" cy="20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sp>
        <p:nvSpPr>
          <p:cNvPr id="253" name="Google Shape;253;p16"/>
          <p:cNvSpPr txBox="1"/>
          <p:nvPr>
            <p:ph idx="1" type="body"/>
          </p:nvPr>
        </p:nvSpPr>
        <p:spPr>
          <a:xfrm>
            <a:off x="375125" y="1006200"/>
            <a:ext cx="3651300" cy="42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Coefficient Heatmap of Stats &amp; Catch Rate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related is x variable to y variable?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Interesting Characteristics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Generation has little correlation across all variables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 negative correlation between Defense &amp; Speed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Positive correlation around Total stats and Height/Weight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Defense also has a positive correlation with Weight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Total has the highest correlation with Catch Rate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negative correlations between stats and Catch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16" title="cor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725" y="935275"/>
            <a:ext cx="4804876" cy="40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sp>
        <p:nvSpPr>
          <p:cNvPr id="260" name="Google Shape;260;p17"/>
          <p:cNvSpPr txBox="1"/>
          <p:nvPr>
            <p:ph idx="1" type="body"/>
          </p:nvPr>
        </p:nvSpPr>
        <p:spPr>
          <a:xfrm>
            <a:off x="5328900" y="983075"/>
            <a:ext cx="3426300" cy="3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plot measures the catch rate distribution among different pokemon body styles.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informs us about the median catch rate of of each body style.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Median values are helpful since they are more robust and less prone to skew from outliers.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Insectoid and Head &amp; Leg Pokemon have a higher median catch rate than all other body styles.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Bipedal tailed, four-winged and two-winged pokemon have the lowest median catch rates.</a:t>
            </a:r>
            <a:endParaRPr/>
          </a:p>
        </p:txBody>
      </p:sp>
      <p:pic>
        <p:nvPicPr>
          <p:cNvPr id="261" name="Google Shape;2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782875"/>
            <a:ext cx="5226913" cy="38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near Regression in Machine learning ..." id="266" name="Google Shape;2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825" y="0"/>
            <a:ext cx="3292325" cy="20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173975" y="940225"/>
            <a:ext cx="65790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What is Linear Regression?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Fits a linear function: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Goal is to minimize the error between predictions and actual values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have multiple variables in the linear equation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are a closed-form solution or using Gradient Descent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68" name="Google Shape;268;p18" title="Screenshot 2025-05-23 at 12.25.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0513" y="3228888"/>
            <a:ext cx="1531731" cy="40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8"/>
          <p:cNvSpPr txBox="1"/>
          <p:nvPr/>
        </p:nvSpPr>
        <p:spPr>
          <a:xfrm>
            <a:off x="174000" y="2685850"/>
            <a:ext cx="89700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was Linear Regression Implemented in Our Project?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Gradient Descent was used here using only NumPy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Updates			        where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8"/>
          <p:cNvSpPr txBox="1"/>
          <p:nvPr>
            <p:ph type="title"/>
          </p:nvPr>
        </p:nvSpPr>
        <p:spPr>
          <a:xfrm>
            <a:off x="173975" y="2275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/>
          </a:p>
        </p:txBody>
      </p:sp>
      <p:pic>
        <p:nvPicPr>
          <p:cNvPr id="271" name="Google Shape;271;p18" title="Screenshot 2025-05-23 at 12.21.0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3250" y="1271575"/>
            <a:ext cx="957280" cy="40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174000" y="3675625"/>
            <a:ext cx="89700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 vs. Sklearn Model Comparison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Linear Regression had the exact same performance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Linear Regression uses OLS closed-form solution while ours used Gradient Descent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18" title="Screenshot 2025-05-23 at 12.29.0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500" y="3228900"/>
            <a:ext cx="1221000" cy="32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idx="1" type="body"/>
          </p:nvPr>
        </p:nvSpPr>
        <p:spPr>
          <a:xfrm>
            <a:off x="201825" y="336525"/>
            <a:ext cx="8856000" cy="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Homemade Model: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749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9" name="Google Shape;279;p19"/>
          <p:cNvSpPr txBox="1"/>
          <p:nvPr/>
        </p:nvSpPr>
        <p:spPr>
          <a:xfrm>
            <a:off x="3495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54196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1" name="Google Shape;281;p19"/>
          <p:cNvGraphicFramePr/>
          <p:nvPr/>
        </p:nvGraphicFramePr>
        <p:xfrm>
          <a:off x="788475" y="8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40.7432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 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0.4912</a:t>
                      </a:r>
                      <a:endParaRPr sz="15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19"/>
          <p:cNvSpPr txBox="1"/>
          <p:nvPr/>
        </p:nvSpPr>
        <p:spPr>
          <a:xfrm>
            <a:off x="201825" y="1319176"/>
            <a:ext cx="4755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			</a:t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283" name="Google Shape;283;p19"/>
          <p:cNvGraphicFramePr/>
          <p:nvPr/>
        </p:nvGraphicFramePr>
        <p:xfrm>
          <a:off x="788475" y="174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40.7432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</a:t>
                      </a:r>
                      <a:endParaRPr sz="15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 </a:t>
                      </a:r>
                      <a:r>
                        <a:rPr lang="en" sz="1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0.4912</a:t>
                      </a:r>
                      <a:endParaRPr sz="15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19"/>
          <p:cNvSpPr txBox="1"/>
          <p:nvPr/>
        </p:nvSpPr>
        <p:spPr>
          <a:xfrm>
            <a:off x="6440225" y="0"/>
            <a:ext cx="255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Linear</a:t>
            </a: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Regression</a:t>
            </a:r>
            <a:endParaRPr b="1" sz="2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285" name="Google Shape;2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425" y="2683375"/>
            <a:ext cx="3354160" cy="226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850" y="2735000"/>
            <a:ext cx="3354160" cy="226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0" title="Screenshot 2025-05-23 at 1.23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612" y="2743025"/>
            <a:ext cx="3750776" cy="3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311700" y="2185725"/>
            <a:ext cx="85206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was KNN Regression Implemented in Our Project?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only NumPy, the KNN Regression algorithm we made uses Euclidean distance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Euclidean distance: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the average of the k nearest points to predict the new point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0"/>
          <p:cNvSpPr txBox="1"/>
          <p:nvPr>
            <p:ph type="title"/>
          </p:nvPr>
        </p:nvSpPr>
        <p:spPr>
          <a:xfrm>
            <a:off x="311700" y="184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 Regression</a:t>
            </a:r>
            <a:endParaRPr/>
          </a:p>
        </p:txBody>
      </p:sp>
      <p:sp>
        <p:nvSpPr>
          <p:cNvPr id="294" name="Google Shape;294;p20"/>
          <p:cNvSpPr txBox="1"/>
          <p:nvPr>
            <p:ph idx="1" type="body"/>
          </p:nvPr>
        </p:nvSpPr>
        <p:spPr>
          <a:xfrm>
            <a:off x="305663" y="924200"/>
            <a:ext cx="87792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What is K-Nearest Neighbors Regression?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Predicts the target value for a new point by using target values of its k nearest neighbors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Lazy learning algorithm that is sensitive to feature scaling so standardization is crucial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11700" y="3425375"/>
            <a:ext cx="86559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 vs. Sklearn Model Comparison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tuning found that when k is 8 the model has the best performance for our problem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KNN Regression had the same performance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KNN Regression also uses Euclidean distance by default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/>
          <p:nvPr>
            <p:ph idx="1" type="body"/>
          </p:nvPr>
        </p:nvSpPr>
        <p:spPr>
          <a:xfrm>
            <a:off x="201825" y="394925"/>
            <a:ext cx="8856000" cy="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Homemade Model: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749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1" name="Google Shape;301;p21"/>
          <p:cNvSpPr txBox="1"/>
          <p:nvPr/>
        </p:nvSpPr>
        <p:spPr>
          <a:xfrm>
            <a:off x="3495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4196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03" name="Google Shape;303;p21"/>
          <p:cNvGraphicFramePr/>
          <p:nvPr/>
        </p:nvGraphicFramePr>
        <p:xfrm>
          <a:off x="788475" y="8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34.7943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0.5412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21"/>
          <p:cNvSpPr txBox="1"/>
          <p:nvPr/>
        </p:nvSpPr>
        <p:spPr>
          <a:xfrm>
            <a:off x="201825" y="1319176"/>
            <a:ext cx="4755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		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05" name="Google Shape;305;p21"/>
          <p:cNvGraphicFramePr/>
          <p:nvPr/>
        </p:nvGraphicFramePr>
        <p:xfrm>
          <a:off x="788475" y="174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34.7943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0.5412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21"/>
          <p:cNvSpPr txBox="1"/>
          <p:nvPr/>
        </p:nvSpPr>
        <p:spPr>
          <a:xfrm>
            <a:off x="3924325" y="-350"/>
            <a:ext cx="5219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K-Nearest Neighbors Regression</a:t>
            </a:r>
            <a:endParaRPr b="1" sz="2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07" name="Google Shape;3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437" y="2765888"/>
            <a:ext cx="3668863" cy="22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00" y="2661575"/>
            <a:ext cx="3446735" cy="23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"/>
          <p:cNvSpPr txBox="1"/>
          <p:nvPr>
            <p:ph type="title"/>
          </p:nvPr>
        </p:nvSpPr>
        <p:spPr>
          <a:xfrm>
            <a:off x="2979550" y="75750"/>
            <a:ext cx="3487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Regression</a:t>
            </a:r>
            <a:endParaRPr/>
          </a:p>
        </p:txBody>
      </p:sp>
      <p:sp>
        <p:nvSpPr>
          <p:cNvPr id="314" name="Google Shape;314;p22"/>
          <p:cNvSpPr txBox="1"/>
          <p:nvPr>
            <p:ph idx="1" type="body"/>
          </p:nvPr>
        </p:nvSpPr>
        <p:spPr>
          <a:xfrm>
            <a:off x="138325" y="648450"/>
            <a:ext cx="6140100" cy="42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What is Decision Tree Regression?</a:t>
            </a:r>
            <a:endParaRPr b="1" sz="16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Predicts continuous outcomes by breaking down data into smaller and smaller subsets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 particular factor is chosen to split the data on and then the data split into two groups based off of a threshold value (usually the mean)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How was Decision Tree Regression Implemented in Our Project?</a:t>
            </a:r>
            <a:endParaRPr b="1" sz="1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 NumPy to create Node class and generate decision tree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Included arguments for max depth, minimum samples required to split, and minimum samples per leaf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Included variance reduction and best_split functions to determine             which split will </a:t>
            </a:r>
            <a:r>
              <a:rPr lang="en" sz="1300"/>
              <a:t>result</a:t>
            </a:r>
            <a:r>
              <a:rPr lang="en" sz="1300"/>
              <a:t> in the </a:t>
            </a:r>
            <a:r>
              <a:rPr lang="en" sz="1300"/>
              <a:t>largest decrease in variation and which     factor to split on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Homemade Model vs. Sklearn Model Comparison</a:t>
            </a:r>
            <a:endParaRPr b="1"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 two models had very similar performance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Both had fairly low R^2 and MSE, indicating that Decision Tree                      Regression wouldn’t be the best model for this task</a:t>
            </a:r>
            <a:endParaRPr sz="1300"/>
          </a:p>
        </p:txBody>
      </p:sp>
      <p:pic>
        <p:nvPicPr>
          <p:cNvPr id="315" name="Google Shape;3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975" y="3052875"/>
            <a:ext cx="3316319" cy="186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 txBox="1"/>
          <p:nvPr>
            <p:ph idx="1" type="body"/>
          </p:nvPr>
        </p:nvSpPr>
        <p:spPr>
          <a:xfrm>
            <a:off x="201825" y="336525"/>
            <a:ext cx="8856000" cy="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Homemade Model: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749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21" name="Google Shape;3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977" y="2683375"/>
            <a:ext cx="3539897" cy="22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9625" y="2683375"/>
            <a:ext cx="2993525" cy="227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3495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54196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25" name="Google Shape;325;p23"/>
          <p:cNvGraphicFramePr/>
          <p:nvPr/>
        </p:nvGraphicFramePr>
        <p:xfrm>
          <a:off x="788475" y="79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38.20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0.489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23"/>
          <p:cNvSpPr txBox="1"/>
          <p:nvPr/>
        </p:nvSpPr>
        <p:spPr>
          <a:xfrm>
            <a:off x="201825" y="1319176"/>
            <a:ext cx="4755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				</a:t>
            </a:r>
            <a:endParaRPr sz="1500">
              <a:solidFill>
                <a:schemeClr val="dk2"/>
              </a:solidFill>
            </a:endParaRPr>
          </a:p>
        </p:txBody>
      </p:sp>
      <p:graphicFrame>
        <p:nvGraphicFramePr>
          <p:cNvPr id="327" name="Google Shape;327;p23"/>
          <p:cNvGraphicFramePr/>
          <p:nvPr/>
        </p:nvGraphicFramePr>
        <p:xfrm>
          <a:off x="788475" y="174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34.42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0.493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23"/>
          <p:cNvSpPr txBox="1"/>
          <p:nvPr/>
        </p:nvSpPr>
        <p:spPr>
          <a:xfrm>
            <a:off x="5193000" y="-350"/>
            <a:ext cx="395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 Tree Regression</a:t>
            </a:r>
            <a:endParaRPr b="1" sz="2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>
            <p:ph type="title"/>
          </p:nvPr>
        </p:nvSpPr>
        <p:spPr>
          <a:xfrm>
            <a:off x="311700" y="1391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Regression</a:t>
            </a:r>
            <a:endParaRPr/>
          </a:p>
        </p:txBody>
      </p:sp>
      <p:sp>
        <p:nvSpPr>
          <p:cNvPr id="334" name="Google Shape;334;p24"/>
          <p:cNvSpPr txBox="1"/>
          <p:nvPr>
            <p:ph idx="1" type="body"/>
          </p:nvPr>
        </p:nvSpPr>
        <p:spPr>
          <a:xfrm>
            <a:off x="499725" y="776000"/>
            <a:ext cx="82119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What is Random Forest Regression?</a:t>
            </a:r>
            <a:endParaRPr b="1" sz="1300"/>
          </a:p>
          <a:p>
            <a:pPr indent="-2794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1300"/>
              <a:t>An ensemble of many decision trees trained on random subsets of data</a:t>
            </a:r>
            <a:endParaRPr sz="1300"/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1300"/>
              <a:t>Predicts by averaging outputs from all trees OR </a:t>
            </a:r>
            <a:r>
              <a:rPr lang="en" sz="1300"/>
              <a:t>majority</a:t>
            </a:r>
            <a:r>
              <a:rPr lang="en" sz="1300"/>
              <a:t> vote</a:t>
            </a:r>
            <a:endParaRPr sz="1300"/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1300"/>
              <a:t>Handles nonlinear relationships and interactions between variables well, with minimal tuning needed.</a:t>
            </a:r>
            <a:br>
              <a:rPr lang="en" sz="1300"/>
            </a:b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335" name="Google Shape;335;p24"/>
          <p:cNvSpPr txBox="1"/>
          <p:nvPr>
            <p:ph idx="1" type="body"/>
          </p:nvPr>
        </p:nvSpPr>
        <p:spPr>
          <a:xfrm>
            <a:off x="608175" y="2238100"/>
            <a:ext cx="7674300" cy="16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How was Random Tree Regression Implemented in Our Project?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2 sources of randomness: Bootstrapping &amp; Random feature selection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Predictions were averaged across all trees to generate the final output.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Metrics used: Mean Absolute Error (MAE) and R</a:t>
            </a:r>
            <a:r>
              <a:rPr baseline="30000" lang="en" sz="1300"/>
              <a:t>2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336" name="Google Shape;336;p24"/>
          <p:cNvSpPr txBox="1"/>
          <p:nvPr>
            <p:ph idx="1" type="body"/>
          </p:nvPr>
        </p:nvSpPr>
        <p:spPr>
          <a:xfrm>
            <a:off x="499725" y="3748250"/>
            <a:ext cx="8295300" cy="19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Homemade Model vs. Sklearn Model Comparison</a:t>
            </a:r>
            <a:endParaRPr b="1"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Both models achieved similar performance: our homemade model showed slightly better MAE and </a:t>
            </a:r>
            <a:r>
              <a:rPr lang="en" sz="1300"/>
              <a:t>R</a:t>
            </a:r>
            <a:r>
              <a:rPr baseline="30000" lang="en" sz="1300"/>
              <a:t>2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>
            <p:ph idx="1" type="body"/>
          </p:nvPr>
        </p:nvSpPr>
        <p:spPr>
          <a:xfrm>
            <a:off x="201825" y="336525"/>
            <a:ext cx="8856000" cy="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Homemade Model: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749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2" name="Google Shape;342;p25"/>
          <p:cNvSpPr txBox="1"/>
          <p:nvPr/>
        </p:nvSpPr>
        <p:spPr>
          <a:xfrm>
            <a:off x="3495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54196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44" name="Google Shape;344;p25"/>
          <p:cNvGraphicFramePr/>
          <p:nvPr/>
        </p:nvGraphicFramePr>
        <p:xfrm>
          <a:off x="788475" y="8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29.89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0.649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25"/>
          <p:cNvSpPr txBox="1"/>
          <p:nvPr/>
        </p:nvSpPr>
        <p:spPr>
          <a:xfrm>
            <a:off x="201825" y="1319176"/>
            <a:ext cx="4755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			</a:t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346" name="Google Shape;346;p25"/>
          <p:cNvGraphicFramePr/>
          <p:nvPr/>
        </p:nvGraphicFramePr>
        <p:xfrm>
          <a:off x="788475" y="174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 30.37				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0.637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25"/>
          <p:cNvSpPr txBox="1"/>
          <p:nvPr/>
        </p:nvSpPr>
        <p:spPr>
          <a:xfrm>
            <a:off x="5193000" y="-350"/>
            <a:ext cx="395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Regressor</a:t>
            </a:r>
            <a:endParaRPr b="1" sz="2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48" name="Google Shape;348;p25" title="Screenshot 2025-05-23 at 12.58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75" y="2730825"/>
            <a:ext cx="3232476" cy="219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5" title="Screenshot 2025-05-23 at 12.59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7425" y="2683375"/>
            <a:ext cx="3232476" cy="2241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title"/>
          </p:nvPr>
        </p:nvSpPr>
        <p:spPr>
          <a:xfrm>
            <a:off x="457200" y="183100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Boosting Regression</a:t>
            </a:r>
            <a:endParaRPr/>
          </a:p>
        </p:txBody>
      </p:sp>
      <p:sp>
        <p:nvSpPr>
          <p:cNvPr id="355" name="Google Shape;355;p26"/>
          <p:cNvSpPr txBox="1"/>
          <p:nvPr>
            <p:ph idx="1" type="body"/>
          </p:nvPr>
        </p:nvSpPr>
        <p:spPr>
          <a:xfrm>
            <a:off x="457200" y="554500"/>
            <a:ext cx="8229600" cy="15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Gradient Boosting Regression?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 ensemble method that combines many weak learners, in this case shallow trees, to form a strong predictor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Trains each weak learner on the residual errors of the previous model so each model corrects the errors of the previous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Uses Gradient Descent to minimize a loss function, which is how well the model predictions match the actual values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457200" y="2357600"/>
            <a:ext cx="8590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was Gradient Boosting Regression Implemented Here?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a custom DecisionStumpRegressor, which is a 1-level decision tree, built only with NumPy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prediction is the mean of 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 iteration residuals were computed and then a DecisionStumpRegressor model was fit on the residuals which would update the predictions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Stops after a fixed number of iterations controlled by a hyperparameter ‘n_estimators’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457200" y="3785625"/>
            <a:ext cx="89517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 vs. Sklearn Model Comparison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models have very similar R² (0.54), so they explain about the same amount of variance in the data.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has a slightly better MAE (34.68 vs 36.86), meaning its average absolute error is slightly smaller.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homemade model’s performance is close to Sklearn’s, which is impressive given that sklearn uses more advanced tree algorithms.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201825" y="336525"/>
            <a:ext cx="8856000" cy="3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Homemade Model: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C7491"/>
              </a:solidFill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3" name="Google Shape;363;p27"/>
          <p:cNvSpPr txBox="1"/>
          <p:nvPr/>
        </p:nvSpPr>
        <p:spPr>
          <a:xfrm>
            <a:off x="3495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Homemade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5419625" y="2249250"/>
            <a:ext cx="3574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65" name="Google Shape;365;p27"/>
          <p:cNvGraphicFramePr/>
          <p:nvPr/>
        </p:nvGraphicFramePr>
        <p:xfrm>
          <a:off x="788475" y="8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MAE:	 36.86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0.54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p27"/>
          <p:cNvSpPr txBox="1"/>
          <p:nvPr/>
        </p:nvSpPr>
        <p:spPr>
          <a:xfrm>
            <a:off x="201825" y="1319176"/>
            <a:ext cx="47556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Sklearn Model: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			</a:t>
            </a:r>
            <a:endParaRPr sz="1500">
              <a:solidFill>
                <a:schemeClr val="dk1"/>
              </a:solidFill>
            </a:endParaRPr>
          </a:p>
        </p:txBody>
      </p:sp>
      <p:graphicFrame>
        <p:nvGraphicFramePr>
          <p:cNvPr id="367" name="Google Shape;367;p27"/>
          <p:cNvGraphicFramePr/>
          <p:nvPr/>
        </p:nvGraphicFramePr>
        <p:xfrm>
          <a:off x="788475" y="174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{034DF609-D5C0-4DAD-A612-FEA928C0C0B2}</a:tableStyleId>
              </a:tblPr>
              <a:tblGrid>
                <a:gridCol w="3619500"/>
                <a:gridCol w="36195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MAE: 34.52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R</a:t>
                      </a:r>
                      <a:r>
                        <a:rPr baseline="30000" lang="en" sz="15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: 0.54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27"/>
          <p:cNvSpPr txBox="1"/>
          <p:nvPr/>
        </p:nvSpPr>
        <p:spPr>
          <a:xfrm>
            <a:off x="4156375" y="-350"/>
            <a:ext cx="498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Gradient Boosting Regressor</a:t>
            </a:r>
            <a:endParaRPr b="1" sz="2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369" name="Google Shape;3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25" y="2661575"/>
            <a:ext cx="3035407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2420" y="2683375"/>
            <a:ext cx="3035407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 for Our Dataset</a:t>
            </a:r>
            <a:endParaRPr/>
          </a:p>
        </p:txBody>
      </p:sp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457200" y="986975"/>
            <a:ext cx="83037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Random Forest Regressor</a:t>
            </a:r>
            <a:r>
              <a:rPr lang="en" sz="1600"/>
              <a:t> performed the </a:t>
            </a:r>
            <a:r>
              <a:rPr b="1" lang="en" sz="1600"/>
              <a:t>best</a:t>
            </a:r>
            <a:r>
              <a:rPr lang="en" sz="1600"/>
              <a:t> out of all our models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Random Forest worked the best because it: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Aggregates</a:t>
            </a:r>
            <a:r>
              <a:rPr lang="en" sz="1600"/>
              <a:t> predictions of many decision trees built on different random subsets of the data, reducing variance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Captures</a:t>
            </a:r>
            <a:r>
              <a:rPr lang="en" sz="1600"/>
              <a:t> complex patterns </a:t>
            </a:r>
            <a:r>
              <a:rPr lang="en" sz="1600"/>
              <a:t>and</a:t>
            </a:r>
            <a:r>
              <a:rPr lang="en" sz="1600"/>
              <a:t> feature interactions better than simple linear models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Is less sensitive to noise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Why did the other models perform worse?: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Linear regression: Assumes linear relationship and struggles with complex interactions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K-nearest neighbors: While good for local patterns, is sensitive to noisy data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Decision tree: May overfit training data, leading to more errors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Gradient boosting regression: Use of stumps may be too weak to capture complex patterns 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/>
          <p:nvPr>
            <p:ph type="title"/>
          </p:nvPr>
        </p:nvSpPr>
        <p:spPr>
          <a:xfrm>
            <a:off x="347975" y="1100700"/>
            <a:ext cx="56871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 You!</a:t>
            </a:r>
            <a:endParaRPr sz="9600"/>
          </a:p>
        </p:txBody>
      </p:sp>
      <p:grpSp>
        <p:nvGrpSpPr>
          <p:cNvPr id="382" name="Google Shape;382;p29"/>
          <p:cNvGrpSpPr/>
          <p:nvPr/>
        </p:nvGrpSpPr>
        <p:grpSpPr>
          <a:xfrm>
            <a:off x="6511438" y="217528"/>
            <a:ext cx="2391217" cy="2261883"/>
            <a:chOff x="457200" y="1485900"/>
            <a:chExt cx="3205384" cy="3246100"/>
          </a:xfrm>
        </p:grpSpPr>
        <p:sp>
          <p:nvSpPr>
            <p:cNvPr id="383" name="Google Shape;383;p29"/>
            <p:cNvSpPr/>
            <p:nvPr/>
          </p:nvSpPr>
          <p:spPr>
            <a:xfrm>
              <a:off x="457200" y="4516621"/>
              <a:ext cx="1920994" cy="173515"/>
            </a:xfrm>
            <a:custGeom>
              <a:rect b="b" l="l" r="r" t="t"/>
              <a:pathLst>
                <a:path extrusionOk="0" h="4292" w="47517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2360341" y="2998390"/>
              <a:ext cx="417454" cy="50373"/>
            </a:xfrm>
            <a:custGeom>
              <a:rect b="b" l="l" r="r" t="t"/>
              <a:pathLst>
                <a:path extrusionOk="0" h="1246" w="10326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2623642" y="2998390"/>
              <a:ext cx="154150" cy="50373"/>
            </a:xfrm>
            <a:custGeom>
              <a:rect b="b" l="l" r="r" t="t"/>
              <a:pathLst>
                <a:path extrusionOk="0" h="1246" w="3813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2665443" y="2196079"/>
              <a:ext cx="84453" cy="111176"/>
            </a:xfrm>
            <a:custGeom>
              <a:rect b="b" l="l" r="r" t="t"/>
              <a:pathLst>
                <a:path extrusionOk="0" h="2750" w="2089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148708" y="1685326"/>
              <a:ext cx="513874" cy="513874"/>
            </a:xfrm>
            <a:custGeom>
              <a:rect b="b" l="l" r="r" t="t"/>
              <a:pathLst>
                <a:path extrusionOk="0" h="12711" w="12711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rgbClr val="8027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460840" y="4303652"/>
              <a:ext cx="374844" cy="292776"/>
            </a:xfrm>
            <a:custGeom>
              <a:rect b="b" l="l" r="r" t="t"/>
              <a:pathLst>
                <a:path extrusionOk="0" h="7242" w="9272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1460840" y="4527860"/>
              <a:ext cx="213376" cy="68565"/>
            </a:xfrm>
            <a:custGeom>
              <a:rect b="b" l="l" r="r" t="t"/>
              <a:pathLst>
                <a:path extrusionOk="0" h="1696" w="5278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728790" y="3425460"/>
              <a:ext cx="999449" cy="975071"/>
            </a:xfrm>
            <a:custGeom>
              <a:rect b="b" l="l" r="r" t="t"/>
              <a:pathLst>
                <a:path extrusionOk="0" h="24119" w="24722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3025971" y="3702707"/>
              <a:ext cx="60035" cy="868585"/>
            </a:xfrm>
            <a:custGeom>
              <a:rect b="b" l="l" r="r" t="t"/>
              <a:pathLst>
                <a:path extrusionOk="0" h="21485" w="1485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2769624" y="4502714"/>
              <a:ext cx="572736" cy="154514"/>
            </a:xfrm>
            <a:custGeom>
              <a:rect b="b" l="l" r="r" t="t"/>
              <a:pathLst>
                <a:path extrusionOk="0" h="3822" w="14167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2991123" y="3677925"/>
              <a:ext cx="129732" cy="201774"/>
            </a:xfrm>
            <a:custGeom>
              <a:rect b="b" l="l" r="r" t="t"/>
              <a:pathLst>
                <a:path extrusionOk="0" h="4991" w="3209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2638357" y="3666323"/>
              <a:ext cx="835273" cy="68565"/>
            </a:xfrm>
            <a:custGeom>
              <a:rect b="b" l="l" r="r" t="t"/>
              <a:pathLst>
                <a:path extrusionOk="0" h="1696" w="20661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2608158" y="3560607"/>
              <a:ext cx="895671" cy="132845"/>
            </a:xfrm>
            <a:custGeom>
              <a:rect b="b" l="l" r="r" t="t"/>
              <a:pathLst>
                <a:path extrusionOk="0" h="3286" w="22155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rgbClr val="EA48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2727418" y="3376301"/>
              <a:ext cx="506516" cy="60439"/>
            </a:xfrm>
            <a:custGeom>
              <a:rect b="b" l="l" r="r" t="t"/>
              <a:pathLst>
                <a:path extrusionOk="0" h="1495" w="12529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2636821" y="1931606"/>
              <a:ext cx="169998" cy="314445"/>
            </a:xfrm>
            <a:custGeom>
              <a:rect b="b" l="l" r="r" t="t"/>
              <a:pathLst>
                <a:path extrusionOk="0" h="7778" w="4205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rgbClr val="E4EA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2378129" y="3053371"/>
              <a:ext cx="1130353" cy="532066"/>
            </a:xfrm>
            <a:custGeom>
              <a:rect b="b" l="l" r="r" t="t"/>
              <a:pathLst>
                <a:path extrusionOk="0" h="13161" w="2796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2548892" y="2179787"/>
              <a:ext cx="691229" cy="743906"/>
            </a:xfrm>
            <a:custGeom>
              <a:rect b="b" l="l" r="r" t="t"/>
              <a:pathLst>
                <a:path extrusionOk="0" h="18401" w="17098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2861757" y="2179019"/>
              <a:ext cx="379129" cy="650964"/>
            </a:xfrm>
            <a:custGeom>
              <a:rect b="b" l="l" r="r" t="t"/>
              <a:pathLst>
                <a:path extrusionOk="0" h="16102" w="9378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2947341" y="2125574"/>
              <a:ext cx="715243" cy="1044000"/>
            </a:xfrm>
            <a:custGeom>
              <a:rect b="b" l="l" r="r" t="t"/>
              <a:pathLst>
                <a:path extrusionOk="0" h="25824" w="17692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rgbClr val="EA48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3213755" y="1813115"/>
              <a:ext cx="234682" cy="453071"/>
            </a:xfrm>
            <a:custGeom>
              <a:rect b="b" l="l" r="r" t="t"/>
              <a:pathLst>
                <a:path extrusionOk="0" h="11207" w="5805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3095263" y="1636935"/>
              <a:ext cx="328797" cy="476317"/>
            </a:xfrm>
            <a:custGeom>
              <a:rect b="b" l="l" r="r" t="t"/>
              <a:pathLst>
                <a:path extrusionOk="0" h="11782" w="8133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3144827" y="1846022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252484" y="1852208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173085" y="1864619"/>
              <a:ext cx="38366" cy="102645"/>
            </a:xfrm>
            <a:custGeom>
              <a:rect b="b" l="l" r="r" t="t"/>
              <a:pathLst>
                <a:path extrusionOk="0" h="2539" w="949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EA48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3239709" y="1819705"/>
              <a:ext cx="50737" cy="27531"/>
            </a:xfrm>
            <a:custGeom>
              <a:rect b="b" l="l" r="r" t="t"/>
              <a:pathLst>
                <a:path extrusionOk="0" h="681" w="1255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3129343" y="1813519"/>
              <a:ext cx="53486" cy="24822"/>
            </a:xfrm>
            <a:custGeom>
              <a:rect b="b" l="l" r="r" t="t"/>
              <a:pathLst>
                <a:path extrusionOk="0" h="614" w="1323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3172317" y="1990832"/>
              <a:ext cx="74791" cy="39174"/>
            </a:xfrm>
            <a:custGeom>
              <a:rect b="b" l="l" r="r" t="t"/>
              <a:pathLst>
                <a:path extrusionOk="0" h="969" w="185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936102" y="1485900"/>
              <a:ext cx="533643" cy="434151"/>
            </a:xfrm>
            <a:custGeom>
              <a:rect b="b" l="l" r="r" t="t"/>
              <a:pathLst>
                <a:path extrusionOk="0" h="10739" w="1320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rgbClr val="8027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3362445" y="1835956"/>
              <a:ext cx="85989" cy="123951"/>
            </a:xfrm>
            <a:custGeom>
              <a:rect b="b" l="l" r="r" t="t"/>
              <a:pathLst>
                <a:path extrusionOk="0" h="3066" w="2127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2094695" y="4153426"/>
              <a:ext cx="274220" cy="484079"/>
            </a:xfrm>
            <a:custGeom>
              <a:rect b="b" l="l" r="r" t="t"/>
              <a:pathLst>
                <a:path extrusionOk="0" h="11974" w="6783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2094695" y="4545284"/>
              <a:ext cx="179700" cy="92215"/>
            </a:xfrm>
            <a:custGeom>
              <a:rect b="b" l="l" r="r" t="t"/>
              <a:pathLst>
                <a:path extrusionOk="0" h="2281" w="4445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2538058" y="2129455"/>
              <a:ext cx="197933" cy="312909"/>
            </a:xfrm>
            <a:custGeom>
              <a:rect b="b" l="l" r="r" t="t"/>
              <a:pathLst>
                <a:path extrusionOk="0" h="7740" w="4896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rgbClr val="EA48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2690629" y="2229350"/>
              <a:ext cx="913864" cy="865108"/>
            </a:xfrm>
            <a:custGeom>
              <a:rect b="b" l="l" r="r" t="t"/>
              <a:pathLst>
                <a:path extrusionOk="0" h="21399" w="22605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2245326" y="3107947"/>
              <a:ext cx="1263157" cy="1100154"/>
            </a:xfrm>
            <a:custGeom>
              <a:rect b="b" l="l" r="r" t="t"/>
              <a:pathLst>
                <a:path extrusionOk="0" h="27213" w="31245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rgbClr val="E4EA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2497793" y="2941469"/>
              <a:ext cx="215721" cy="56962"/>
            </a:xfrm>
            <a:custGeom>
              <a:rect b="b" l="l" r="r" t="t"/>
              <a:pathLst>
                <a:path extrusionOk="0" h="1409" w="5336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3297762" y="2216211"/>
              <a:ext cx="311009" cy="575041"/>
            </a:xfrm>
            <a:custGeom>
              <a:rect b="b" l="l" r="r" t="t"/>
              <a:pathLst>
                <a:path extrusionOk="0" h="14224" w="7693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720260" y="2966615"/>
              <a:ext cx="427157" cy="87566"/>
            </a:xfrm>
            <a:custGeom>
              <a:rect b="b" l="l" r="r" t="t"/>
              <a:pathLst>
                <a:path extrusionOk="0" h="2166" w="10566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1616889" y="2749401"/>
              <a:ext cx="322975" cy="304783"/>
            </a:xfrm>
            <a:custGeom>
              <a:rect b="b" l="l" r="r" t="t"/>
              <a:pathLst>
                <a:path extrusionOk="0" h="7539" w="7989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1132856" y="1940136"/>
              <a:ext cx="1342557" cy="867008"/>
            </a:xfrm>
            <a:custGeom>
              <a:rect b="b" l="l" r="r" t="t"/>
              <a:pathLst>
                <a:path extrusionOk="0" h="21446" w="33209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2263154" y="1940136"/>
              <a:ext cx="212244" cy="867008"/>
            </a:xfrm>
            <a:custGeom>
              <a:rect b="b" l="l" r="r" t="t"/>
              <a:pathLst>
                <a:path extrusionOk="0" h="21446" w="525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59489" y="3162564"/>
              <a:ext cx="2251327" cy="48836"/>
            </a:xfrm>
            <a:custGeom>
              <a:rect b="b" l="l" r="r" t="t"/>
              <a:pathLst>
                <a:path extrusionOk="0" h="1208" w="55688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567930" y="3124603"/>
              <a:ext cx="583167" cy="1607397"/>
            </a:xfrm>
            <a:custGeom>
              <a:rect b="b" l="l" r="r" t="t"/>
              <a:pathLst>
                <a:path extrusionOk="0" h="39760" w="14425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2786643" y="3124603"/>
              <a:ext cx="583207" cy="1607397"/>
            </a:xfrm>
            <a:custGeom>
              <a:rect b="b" l="l" r="r" t="t"/>
              <a:pathLst>
                <a:path extrusionOk="0" h="39760" w="14426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747991" y="3048722"/>
              <a:ext cx="2480914" cy="124719"/>
            </a:xfrm>
            <a:custGeom>
              <a:rect b="b" l="l" r="r" t="t"/>
              <a:pathLst>
                <a:path extrusionOk="0" h="3085" w="61367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2520634" y="2107018"/>
              <a:ext cx="232782" cy="51909"/>
            </a:xfrm>
            <a:custGeom>
              <a:rect b="b" l="l" r="r" t="t"/>
              <a:pathLst>
                <a:path extrusionOk="0" h="1284" w="5758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2517157" y="2213867"/>
              <a:ext cx="89870" cy="173919"/>
            </a:xfrm>
            <a:custGeom>
              <a:rect b="b" l="l" r="r" t="t"/>
              <a:pathLst>
                <a:path extrusionOk="0" h="4302" w="2223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29"/>
          <p:cNvSpPr txBox="1"/>
          <p:nvPr>
            <p:ph type="title"/>
          </p:nvPr>
        </p:nvSpPr>
        <p:spPr>
          <a:xfrm>
            <a:off x="2487600" y="2908875"/>
            <a:ext cx="66564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38862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Implementation Code</a:t>
            </a:r>
            <a:endParaRPr/>
          </a:p>
          <a:p>
            <a:pPr indent="-38862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Dataset</a:t>
            </a:r>
            <a:endParaRPr/>
          </a:p>
          <a:p>
            <a:pPr indent="-38862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Machine Learning Algorithms Conceptual Document</a:t>
            </a:r>
            <a:r>
              <a:rPr lang="en"/>
              <a:t> </a:t>
            </a:r>
            <a:endParaRPr/>
          </a:p>
        </p:txBody>
      </p:sp>
      <p:pic>
        <p:nvPicPr>
          <p:cNvPr descr="Pikachu drawing, Pokemon coloring, Pikachu" id="430" name="Google Shape;43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881625"/>
            <a:ext cx="2824531" cy="22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